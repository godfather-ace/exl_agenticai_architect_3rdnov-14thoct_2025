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14747408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28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7392" userDrawn="1">
          <p15:clr>
            <a:srgbClr val="A4A3A4"/>
          </p15:clr>
        </p15:guide>
        <p15:guide id="7" pos="288" userDrawn="1">
          <p15:clr>
            <a:srgbClr val="A4A3A4"/>
          </p15:clr>
        </p15:guide>
        <p15:guide id="8" pos="216" userDrawn="1">
          <p15:clr>
            <a:srgbClr val="A4A3A4"/>
          </p15:clr>
        </p15:guide>
        <p15:guide id="9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4E0B"/>
    <a:srgbClr val="004EFF"/>
    <a:srgbClr val="E5EDFF"/>
    <a:srgbClr val="C0D2FF"/>
    <a:srgbClr val="83A8FF"/>
    <a:srgbClr val="407AFF"/>
    <a:srgbClr val="000000"/>
    <a:srgbClr val="424242"/>
    <a:srgbClr val="FF40FF"/>
    <a:srgbClr val="FFB3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3792" autoAdjust="0"/>
  </p:normalViewPr>
  <p:slideViewPr>
    <p:cSldViewPr snapToGrid="0" snapToObjects="1">
      <p:cViewPr varScale="1">
        <p:scale>
          <a:sx n="95" d="100"/>
          <a:sy n="95" d="100"/>
        </p:scale>
        <p:origin x="206" y="77"/>
      </p:cViewPr>
      <p:guideLst>
        <p:guide orient="horz" pos="4128"/>
        <p:guide pos="3840"/>
        <p:guide pos="7392"/>
        <p:guide pos="288"/>
        <p:guide pos="2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6" d="100"/>
        <a:sy n="86" d="100"/>
      </p:scale>
      <p:origin x="0" y="0"/>
    </p:cViewPr>
  </p:sorterViewPr>
  <p:notesViewPr>
    <p:cSldViewPr snapToGrid="0" snapToObjects="1">
      <p:cViewPr varScale="1">
        <p:scale>
          <a:sx n="80" d="100"/>
          <a:sy n="80" d="100"/>
        </p:scale>
        <p:origin x="3066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561233-45DC-0946-2455-02C93F71AD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8A0130-1F16-3354-5317-EAAD29FFB5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D917C0-D42B-47D1-A861-215602EF8B7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8E4F27-4BF2-3909-3638-05880831A7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B71824-2436-611A-E077-B0450E3664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FE844-F6AC-4291-8AAC-EA3323234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0829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4D9FB6-F063-5E4C-8E15-DE2BAD5FDB90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41F17-4160-ED44-996C-2E44614DC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279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553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447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416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3348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507E633-4606-0F5C-1C47-2E2296BF60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446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 dirty="0"/>
              <a:t>Insert Picture</a:t>
            </a:r>
            <a:br>
              <a:rPr lang="en-US" dirty="0"/>
            </a:br>
            <a:r>
              <a:rPr lang="en-US" dirty="0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6650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51F0EE0-3D9B-E861-B59E-EC60640064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9755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ate blue bkgr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820872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ight blue bkgr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  <a:solidFill>
            <a:schemeClr val="bg2"/>
          </a:solidFill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1022AB0-A6DF-42F4-2FD1-C8A66FD65C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29341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sla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le 6">
            <a:extLst>
              <a:ext uri="{FF2B5EF4-FFF2-40B4-BE49-F238E27FC236}">
                <a16:creationId xmlns:a16="http://schemas.microsoft.com/office/drawing/2014/main" id="{931308C3-C86F-8439-79F6-BF2D0C1E6F6F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654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light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Triangle 6">
            <a:extLst>
              <a:ext uri="{FF2B5EF4-FFF2-40B4-BE49-F238E27FC236}">
                <a16:creationId xmlns:a16="http://schemas.microsoft.com/office/drawing/2014/main" id="{4766D99B-C9CC-1DAD-1E54-88F872622439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190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  <a:br>
              <a:rPr lang="en-US" dirty="0"/>
            </a:br>
            <a:r>
              <a:rPr lang="en-US" dirty="0"/>
              <a:t>then send to back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4595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window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FB34F-AFB3-FB22-6CF1-6C96D239CF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2DD5020-0712-DF29-4789-07AE70446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88952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7625" y="696688"/>
            <a:ext cx="391212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441410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143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1992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4446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3004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915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9235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7759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7122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</p:spTree>
    <p:extLst>
      <p:ext uri="{BB962C8B-B14F-4D97-AF65-F5344CB8AC3E}">
        <p14:creationId xmlns:p14="http://schemas.microsoft.com/office/powerpoint/2010/main" val="2884971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 photo</a:t>
            </a:r>
            <a:br>
              <a:rPr lang="en-US" dirty="0"/>
            </a:br>
            <a:r>
              <a:rPr lang="en-US" dirty="0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21025-6C5D-4AD1-B98F-3B9F05B818B5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801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665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 userDrawn="1"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 userDrawn="1"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 userDrawn="1"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427256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 userDrawn="1"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1596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05EF5-67A3-467C-B557-30C099F3F7D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65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73797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147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2669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405915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639860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 dirty="0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639860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767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33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CCCACD6-8279-7A43-AFDE-A51255A0F160}" type="datetime1">
              <a:rPr lang="en-US" smtClean="0"/>
              <a:t>10/22/2025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©2024 ExlService Holdings, Inc.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403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61" r:id="rId3"/>
    <p:sldLayoutId id="2147483675" r:id="rId4"/>
    <p:sldLayoutId id="2147483677" r:id="rId5"/>
    <p:sldLayoutId id="2147483727" r:id="rId6"/>
    <p:sldLayoutId id="2147483678" r:id="rId7"/>
    <p:sldLayoutId id="2147483681" r:id="rId8"/>
    <p:sldLayoutId id="2147483728" r:id="rId9"/>
    <p:sldLayoutId id="2147483685" r:id="rId10"/>
    <p:sldLayoutId id="2147483729" r:id="rId11"/>
    <p:sldLayoutId id="2147483717" r:id="rId12"/>
    <p:sldLayoutId id="2147483731" r:id="rId13"/>
    <p:sldLayoutId id="2147483719" r:id="rId14"/>
    <p:sldLayoutId id="2147483733" r:id="rId15"/>
    <p:sldLayoutId id="2147483734" r:id="rId16"/>
    <p:sldLayoutId id="2147483735" r:id="rId17"/>
    <p:sldLayoutId id="2147483689" r:id="rId18"/>
    <p:sldLayoutId id="2147483736" r:id="rId19"/>
    <p:sldLayoutId id="2147483737" r:id="rId20"/>
    <p:sldLayoutId id="2147483738" r:id="rId21"/>
    <p:sldLayoutId id="2147483739" r:id="rId22"/>
    <p:sldLayoutId id="2147483701" r:id="rId23"/>
    <p:sldLayoutId id="2147483699" r:id="rId24"/>
    <p:sldLayoutId id="2147483741" r:id="rId25"/>
    <p:sldLayoutId id="2147483705" r:id="rId26"/>
    <p:sldLayoutId id="2147483708" r:id="rId27"/>
    <p:sldLayoutId id="2147483709" r:id="rId28"/>
    <p:sldLayoutId id="2147483710" r:id="rId29"/>
    <p:sldLayoutId id="2147483742" r:id="rId3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j-lt"/>
          <a:ea typeface="+mn-ea"/>
          <a:cs typeface="+mn-cs"/>
        </a:defRPr>
      </a:lvl1pPr>
      <a:lvl2pPr marL="5159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400" kern="1200">
          <a:solidFill>
            <a:schemeClr val="tx2"/>
          </a:solidFill>
          <a:latin typeface="+mj-lt"/>
          <a:ea typeface="+mn-ea"/>
          <a:cs typeface="+mn-cs"/>
        </a:defRPr>
      </a:lvl2pPr>
      <a:lvl3pPr marL="8080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000" kern="1200">
          <a:solidFill>
            <a:schemeClr val="tx2"/>
          </a:solidFill>
          <a:latin typeface="+mj-lt"/>
          <a:ea typeface="+mn-ea"/>
          <a:cs typeface="+mn-cs"/>
        </a:defRPr>
      </a:lvl3pPr>
      <a:lvl4pPr marL="1090613" indent="-2349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4pPr>
      <a:lvl5pPr marL="1373188" indent="-2730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7392" userDrawn="1">
          <p15:clr>
            <a:srgbClr val="F26B43"/>
          </p15:clr>
        </p15:guide>
        <p15:guide id="5" orient="horz" pos="4128" userDrawn="1">
          <p15:clr>
            <a:srgbClr val="F26B43"/>
          </p15:clr>
        </p15:guide>
        <p15:guide id="6" orient="horz" pos="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6BFE8-6D58-5590-A1E7-A2795581D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17B1F9E-08E9-7B40-0BA7-4C99689B9AFB}"/>
              </a:ext>
            </a:extLst>
          </p:cNvPr>
          <p:cNvSpPr/>
          <p:nvPr/>
        </p:nvSpPr>
        <p:spPr>
          <a:xfrm>
            <a:off x="396240" y="708024"/>
            <a:ext cx="11490960" cy="5621655"/>
          </a:xfrm>
          <a:prstGeom prst="roundRect">
            <a:avLst>
              <a:gd name="adj" fmla="val 271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5A20902-D558-3616-7D89-C7810B01F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34925"/>
            <a:ext cx="11277600" cy="673100"/>
          </a:xfrm>
        </p:spPr>
        <p:txBody>
          <a:bodyPr anchor="ctr">
            <a:normAutofit/>
          </a:bodyPr>
          <a:lstStyle/>
          <a:p>
            <a:pPr>
              <a:buClr>
                <a:schemeClr val="tx2"/>
              </a:buClr>
            </a:pPr>
            <a:r>
              <a:rPr lang="en-US" sz="3200" dirty="0">
                <a:solidFill>
                  <a:schemeClr val="tx2"/>
                </a:solidFill>
              </a:rPr>
              <a:t>Template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568F24-1340-890B-283C-18D9094E11AA}"/>
              </a:ext>
            </a:extLst>
          </p:cNvPr>
          <p:cNvSpPr/>
          <p:nvPr/>
        </p:nvSpPr>
        <p:spPr>
          <a:xfrm>
            <a:off x="457200" y="1412241"/>
            <a:ext cx="2054506" cy="208387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FE90E587-E904-18F9-76DC-B7FEDB0143D7}"/>
              </a:ext>
            </a:extLst>
          </p:cNvPr>
          <p:cNvSpPr/>
          <p:nvPr/>
        </p:nvSpPr>
        <p:spPr>
          <a:xfrm>
            <a:off x="457200" y="1307465"/>
            <a:ext cx="2158678" cy="264160"/>
          </a:xfrm>
          <a:prstGeom prst="homePlate">
            <a:avLst/>
          </a:prstGeom>
          <a:solidFill>
            <a:srgbClr val="FB4E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Industry Context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40DAD7-71FF-D89E-C436-22B727959023}"/>
              </a:ext>
            </a:extLst>
          </p:cNvPr>
          <p:cNvSpPr/>
          <p:nvPr/>
        </p:nvSpPr>
        <p:spPr>
          <a:xfrm>
            <a:off x="5171441" y="1412240"/>
            <a:ext cx="6664956" cy="208387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2FE74FDC-8658-AAF2-AF77-E20A1D6844FE}"/>
              </a:ext>
            </a:extLst>
          </p:cNvPr>
          <p:cNvSpPr/>
          <p:nvPr/>
        </p:nvSpPr>
        <p:spPr>
          <a:xfrm>
            <a:off x="5171441" y="1297305"/>
            <a:ext cx="6664956" cy="274320"/>
          </a:xfrm>
          <a:prstGeom prst="homePlate">
            <a:avLst/>
          </a:prstGeom>
          <a:solidFill>
            <a:srgbClr val="FB4E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Functional Overview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7D2455-202B-5BC9-D097-90CE3CD4E61D}"/>
              </a:ext>
            </a:extLst>
          </p:cNvPr>
          <p:cNvSpPr/>
          <p:nvPr/>
        </p:nvSpPr>
        <p:spPr>
          <a:xfrm>
            <a:off x="457200" y="3781425"/>
            <a:ext cx="5638800" cy="248930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BFC4D114-2BF9-7924-89C0-1CC7A9C148CE}"/>
              </a:ext>
            </a:extLst>
          </p:cNvPr>
          <p:cNvSpPr/>
          <p:nvPr/>
        </p:nvSpPr>
        <p:spPr>
          <a:xfrm>
            <a:off x="457200" y="3623945"/>
            <a:ext cx="5638800" cy="274320"/>
          </a:xfrm>
          <a:prstGeom prst="homePlate">
            <a:avLst/>
          </a:prstGeom>
          <a:solidFill>
            <a:srgbClr val="FB4E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Technological Highlights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171A88-D920-B434-5E26-372F07F2B9BC}"/>
              </a:ext>
            </a:extLst>
          </p:cNvPr>
          <p:cNvSpPr/>
          <p:nvPr/>
        </p:nvSpPr>
        <p:spPr>
          <a:xfrm>
            <a:off x="6187440" y="3781425"/>
            <a:ext cx="5638800" cy="248930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3DC75C66-12C8-AFD3-EDE1-0F23F1D280D0}"/>
              </a:ext>
            </a:extLst>
          </p:cNvPr>
          <p:cNvSpPr/>
          <p:nvPr/>
        </p:nvSpPr>
        <p:spPr>
          <a:xfrm>
            <a:off x="6187440" y="3623945"/>
            <a:ext cx="5638800" cy="274320"/>
          </a:xfrm>
          <a:prstGeom prst="homePlate">
            <a:avLst/>
          </a:prstGeom>
          <a:solidFill>
            <a:srgbClr val="FB4E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Business Impact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9F0FD8-FB77-46DF-CFA2-83ED823E713E}"/>
              </a:ext>
            </a:extLst>
          </p:cNvPr>
          <p:cNvSpPr txBox="1"/>
          <p:nvPr/>
        </p:nvSpPr>
        <p:spPr>
          <a:xfrm>
            <a:off x="457200" y="1584960"/>
            <a:ext cx="20545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Describe the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industry related trends, changes</a:t>
            </a:r>
          </a:p>
          <a:p>
            <a:endParaRPr lang="en-US" sz="1200" dirty="0">
              <a:solidFill>
                <a:srgbClr val="0000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dirty="0"/>
              <a:t>What is its potential industry use case? Please specify industry</a:t>
            </a:r>
            <a:endParaRPr kumimoji="0" lang="en-I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1A7B6D-0398-0FE8-CDD1-599D469B52B2}"/>
              </a:ext>
            </a:extLst>
          </p:cNvPr>
          <p:cNvSpPr/>
          <p:nvPr/>
        </p:nvSpPr>
        <p:spPr>
          <a:xfrm>
            <a:off x="2814320" y="1412240"/>
            <a:ext cx="2306320" cy="2086809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6D2A01FF-BF42-9E31-AAC9-F28CD4D6A924}"/>
              </a:ext>
            </a:extLst>
          </p:cNvPr>
          <p:cNvSpPr/>
          <p:nvPr/>
        </p:nvSpPr>
        <p:spPr>
          <a:xfrm>
            <a:off x="2814320" y="1307465"/>
            <a:ext cx="2306320" cy="274320"/>
          </a:xfrm>
          <a:prstGeom prst="homePlate">
            <a:avLst/>
          </a:prstGeom>
          <a:solidFill>
            <a:srgbClr val="FB4E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Client’s business problems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90F0C8-F93E-B121-BC3F-E8A586A3B1F6}"/>
              </a:ext>
            </a:extLst>
          </p:cNvPr>
          <p:cNvSpPr txBox="1"/>
          <p:nvPr/>
        </p:nvSpPr>
        <p:spPr>
          <a:xfrm>
            <a:off x="2824480" y="1624975"/>
            <a:ext cx="2221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Specify the needs of the clients or the problems they are currently facing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2916F6-A4BF-2416-AF79-0554EA5D6206}"/>
              </a:ext>
            </a:extLst>
          </p:cNvPr>
          <p:cNvSpPr txBox="1"/>
          <p:nvPr/>
        </p:nvSpPr>
        <p:spPr>
          <a:xfrm>
            <a:off x="5182989" y="1624975"/>
            <a:ext cx="6654106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The Solution: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How do you imagine you could solve the problem ? what technology or resources you will leverage to solve the problem in a new and innovative way. </a:t>
            </a:r>
          </a:p>
          <a:p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How it works: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How does your solution target and solve the problem at hand. Describe the flow of your solution. How will you leverage data &amp; AI?</a:t>
            </a:r>
          </a:p>
          <a:p>
            <a:endParaRPr lang="en-US" sz="1200" dirty="0">
              <a:solidFill>
                <a:srgbClr val="0000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dirty="0"/>
              <a:t>How does your idea fit into a sales context for EXL? How can it be leveraged by our sales or growth teams?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0D16CA-572C-744B-8AAF-DBDEF574D554}"/>
              </a:ext>
            </a:extLst>
          </p:cNvPr>
          <p:cNvSpPr txBox="1"/>
          <p:nvPr/>
        </p:nvSpPr>
        <p:spPr>
          <a:xfrm>
            <a:off x="477521" y="3957321"/>
            <a:ext cx="56387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Core Technologies used –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e.g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 AI/ML models, cloud platforms, data analytics, automation tools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Innovation factor – how the technology introduces something new, smarter, or more efficient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sz="1200" dirty="0" err="1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calability</a:t>
            </a:r>
            <a:r>
              <a:rPr lang="en-US" sz="12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– ability of the technology to handle growth and larger workloads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Integration – how well it connects with the existing systems, tools or platforms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5C384A-1D7A-A3D4-2B36-CF15B9DFAD37}"/>
              </a:ext>
            </a:extLst>
          </p:cNvPr>
          <p:cNvSpPr txBox="1"/>
          <p:nvPr/>
        </p:nvSpPr>
        <p:spPr>
          <a:xfrm>
            <a:off x="6197598" y="3964503"/>
            <a:ext cx="56387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Revenue Streams (if applicable): </a:t>
            </a:r>
            <a:r>
              <a:rPr lang="en-US" sz="12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Describe your revenue steams in detail.</a:t>
            </a:r>
          </a:p>
          <a:p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Customer/Stakeholder Value: </a:t>
            </a:r>
            <a:r>
              <a:rPr lang="en-US" sz="12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Describe what the value of your solution to the customer would be and how it would be perceived by them e.g. convenience, reliability, customization, easier to use etc.</a:t>
            </a:r>
          </a:p>
          <a:p>
            <a:endParaRPr lang="en-US" sz="1200" dirty="0">
              <a:solidFill>
                <a:srgbClr val="0000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Potential Impact: </a:t>
            </a:r>
            <a:r>
              <a:rPr lang="en-US" sz="12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Estimate the impact your idea could have once implemented.  This may be potential revenue numbers, cost savings numbers, efficiency gain % and other relevant data. </a:t>
            </a:r>
          </a:p>
          <a:p>
            <a:endParaRPr lang="en-US" sz="1200" dirty="0">
              <a:solidFill>
                <a:srgbClr val="0000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Cost Structure: (if applicable): </a:t>
            </a:r>
            <a:r>
              <a:rPr lang="en-US" sz="12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How will the solution be priced and what is the budget to implement the solution at scale. </a:t>
            </a:r>
          </a:p>
        </p:txBody>
      </p:sp>
    </p:spTree>
    <p:extLst>
      <p:ext uri="{BB962C8B-B14F-4D97-AF65-F5344CB8AC3E}">
        <p14:creationId xmlns:p14="http://schemas.microsoft.com/office/powerpoint/2010/main" val="2900283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XL 2023">
      <a:dk1>
        <a:srgbClr val="000000"/>
      </a:dk1>
      <a:lt1>
        <a:srgbClr val="FFFFFF"/>
      </a:lt1>
      <a:dk2>
        <a:srgbClr val="FB4D0A"/>
      </a:dk2>
      <a:lt2>
        <a:srgbClr val="FFFFFF"/>
      </a:lt2>
      <a:accent1>
        <a:srgbClr val="2E3643"/>
      </a:accent1>
      <a:accent2>
        <a:srgbClr val="6D727B"/>
      </a:accent2>
      <a:accent3>
        <a:srgbClr val="005071"/>
      </a:accent3>
      <a:accent4>
        <a:srgbClr val="4D849B"/>
      </a:accent4>
      <a:accent5>
        <a:srgbClr val="DCF3FA"/>
      </a:accent5>
      <a:accent6>
        <a:srgbClr val="E6F6F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3" id="{75DB2D68-EB8A-4D47-9097-25EC9E13C876}" vid="{0310C97A-7711-40A4-A3F2-58B78CFBECD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</Template>
  <TotalTime>1585</TotalTime>
  <Words>300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System Font Regular</vt:lpstr>
      <vt:lpstr>Office Theme</vt:lpstr>
      <vt:lpstr>Template</vt:lpstr>
    </vt:vector>
  </TitlesOfParts>
  <Company>EXL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Innovation Sprint</dc:title>
  <dc:creator>Grace Singh</dc:creator>
  <cp:lastModifiedBy>Vinayak Chopra</cp:lastModifiedBy>
  <cp:revision>31</cp:revision>
  <dcterms:created xsi:type="dcterms:W3CDTF">2024-06-06T10:38:18Z</dcterms:created>
  <dcterms:modified xsi:type="dcterms:W3CDTF">2025-10-23T09:16:11Z</dcterms:modified>
</cp:coreProperties>
</file>